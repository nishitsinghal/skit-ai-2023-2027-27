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46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F1F3F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754880" cy="4754880"/>
          </a:xfrm>
          <a:prstGeom prst="ellipse">
            <a:avLst/>
          </a:prstGeom>
          <a:solidFill>
            <a:srgbClr val="EAF6F5">
              <a:alpha val="45000"/>
            </a:srgbClr>
          </a:solidFill>
          <a:ln/>
        </p:spPr>
      </p:sp>
      <p:pic>
        <p:nvPicPr>
          <p:cNvPr id="4" name="Image 0" descr="/home/claude/dementia_ppt/icons/sk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20040"/>
            <a:ext cx="8686800" cy="1691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317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PROPOSAL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for Early-Stage Dementia Detection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280160" y="4160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4572000"/>
            <a:ext cx="4389120" cy="955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Vaibhav Kumar Jain, 23ESKCA115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Narendra Choudhary, 23ESKCA069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Nishit Singhal,  23ESKCA074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Sujal Solanki, 23ESKCA106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66560" y="4160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66560" y="45720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Kapil Sharma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F1F3F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754880" cy="4754880"/>
          </a:xfrm>
          <a:prstGeom prst="ellipse">
            <a:avLst/>
          </a:prstGeom>
          <a:solidFill>
            <a:srgbClr val="EAF6F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54864" cy="502920"/>
          </a:xfrm>
          <a:prstGeom prst="rect">
            <a:avLst/>
          </a:prstGeom>
          <a:solidFill>
            <a:srgbClr val="1AA6A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Overview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092440" y="146304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3F9F8"/>
          </a:solidFill>
          <a:ln/>
        </p:spPr>
      </p:sp>
      <p:sp>
        <p:nvSpPr>
          <p:cNvPr id="7" name="Shape 5"/>
          <p:cNvSpPr/>
          <p:nvPr/>
        </p:nvSpPr>
        <p:spPr>
          <a:xfrm>
            <a:off x="9555480" y="169164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8" name="Image 0" descr="/home/claude/dementia_ppt/icons/brain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1847088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555480" y="262432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10" name="Image 1" descr="/home/claude/dementia_ppt/icons/microphone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28" y="2779776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555480" y="3557016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12" name="Image 2" descr="/home/claude/dementia_ppt/icons/chartline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28" y="3712464"/>
            <a:ext cx="365760" cy="3657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555480" y="4489704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14" name="Image 3" descr="/home/claude/dementia_ppt/icons/heartbeat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0928" y="4645152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21040" y="5532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NLP + Speech,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Cognitive Health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48640" y="15087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Landscape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548640" y="1901952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Intelligence, Natural Language Processing (NLP) and Speech Recognition applied to healthcare — analyzing spontaneous speech for early cognitive-health screening, using Python, TensorFlow/Scikit-learn and a Node.js/Express.js  as web backend.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48640" y="30632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548640" y="345643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is typically diagnosed only after clinical symptoms appear, using in-person cognitive tests such as the MMSE — a process that is manual, subjective, and delays early intervention.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" y="4572000"/>
            <a:ext cx="7360920" cy="1691640"/>
          </a:xfrm>
          <a:prstGeom prst="roundRect">
            <a:avLst>
              <a:gd name="adj" fmla="val 5405"/>
            </a:avLst>
          </a:prstGeom>
          <a:solidFill>
            <a:srgbClr val="FAFBFC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" y="4754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 Focus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77240" y="5138928"/>
            <a:ext cx="6812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tool that analyzes spontaneous speech samples to flag early linguistic and acoustic markers of dementia, delivered through an accessible, easy-to-use web interface for caregivers and clinicians.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0" y="65105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F1F3F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754880" cy="4754880"/>
          </a:xfrm>
          <a:prstGeom prst="ellipse">
            <a:avLst/>
          </a:prstGeom>
          <a:solidFill>
            <a:srgbClr val="EAF6F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54864" cy="502920"/>
          </a:xfrm>
          <a:prstGeom prst="rect">
            <a:avLst/>
          </a:prstGeom>
          <a:solidFill>
            <a:srgbClr val="1AA6A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7" name="Image 0" descr="/home/claude/dementia_ppt/icons/exclamation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7099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04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assessments (MMSE, clinical interviews) are manual, subjective, time-consuming, and require an in-person clinical visit — often delaying diagnosis until decline is advanced.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11" name="Image 1" descr="/home/claude/dementia_ppt/icons/globe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3736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7099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1488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symptoms are clinically obvious, irreversible cognitive decline has often already begun — costing patients, families, and healthcare systems dearly in avoidable late-stage care.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02920" y="41605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Statement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74920" y="4572000"/>
            <a:ext cx="201168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965960" y="4754880"/>
            <a:ext cx="8275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accessible AI tool that analyzes spontaneous speech to flag early markers of dementia — non-invasively, and before symptoms are clinically visible.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498080" y="65105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F1F3F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754880" cy="4754880"/>
          </a:xfrm>
          <a:prstGeom prst="ellipse">
            <a:avLst/>
          </a:prstGeom>
          <a:solidFill>
            <a:srgbClr val="EAF6F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54864" cy="502920"/>
          </a:xfrm>
          <a:prstGeom prst="rect">
            <a:avLst/>
          </a:prstGeom>
          <a:solidFill>
            <a:srgbClr val="1AA6A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Project Scope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1810512"/>
            <a:ext cx="822960" cy="822960"/>
          </a:xfrm>
          <a:prstGeom prst="ellipse">
            <a:avLst/>
          </a:prstGeom>
          <a:solidFill>
            <a:srgbClr val="F3F9F8"/>
          </a:solidFill>
          <a:ln/>
        </p:spPr>
      </p:sp>
      <p:pic>
        <p:nvPicPr>
          <p:cNvPr id="8" name="Image 0" descr="/home/claude/dementia_ppt/icons/bullseye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2020824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7249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31546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ML/NLP pipeline that classifies spontaneous speech as an early indicator of dementia vs. healthy cognitive aging, and exposes it through a working web application.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49640" y="1810512"/>
            <a:ext cx="822960" cy="822960"/>
          </a:xfrm>
          <a:prstGeom prst="ellipse">
            <a:avLst/>
          </a:prstGeom>
          <a:solidFill>
            <a:srgbClr val="F3F9F8"/>
          </a:solidFill>
          <a:ln/>
        </p:spPr>
      </p:sp>
      <p:pic>
        <p:nvPicPr>
          <p:cNvPr id="13" name="Image 1" descr="/home/claude/dementia_ppt/icons/layers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202082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37960" y="27249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Scope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720840" y="31546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recording &amp; upload, preprocessing, NLP + acoustic feature extraction, an ML/DL classifier, a risk-score API, and an intuitive web dashboard (designed in Figma) for caregivers and clinicians.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5029200"/>
            <a:ext cx="11155680" cy="1234440"/>
          </a:xfrm>
          <a:prstGeom prst="roundRect">
            <a:avLst>
              <a:gd name="adj" fmla="val 7407"/>
            </a:avLst>
          </a:prstGeom>
          <a:solidFill>
            <a:srgbClr val="FAFBFC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516636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Speech-based screening tool, risk-flagging, web dashboard.   </a:t>
            </a: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diagnosis, MRI/EEG-based detection, treatment planning.
</a:t>
            </a: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UN SDG:  </a:t>
            </a:r>
            <a:r>
              <a:rPr lang="en-US" sz="125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— Good Health and Well-Being.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498080" y="65105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F1F3F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754880" cy="4754880"/>
          </a:xfrm>
          <a:prstGeom prst="ellipse">
            <a:avLst/>
          </a:prstGeom>
          <a:solidFill>
            <a:srgbClr val="EAF6F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54864" cy="502920"/>
          </a:xfrm>
          <a:prstGeom prst="rect">
            <a:avLst/>
          </a:prstGeom>
          <a:solidFill>
            <a:srgbClr val="1AA6A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201400" cy="438912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Solution / Research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Strengths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Our Solution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Luz et al. (2020) — ADReSS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Benchmark dataset + baselines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Balanced, widely trusted dataset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No deployable tool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Built a real, usable web tool on it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Frontiers Aging Neuro. (2021)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CNN-LSTM on transcripts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Good text-only accuracy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Ignores voice/acoustic cues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Combined speech + text features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Alzheimer’s Res &amp; Therapy (2022)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Review of deep-learning methods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Broad comparison of approaches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No caregiver-facing deployment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Added a simple, accessible UI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PMC / PubMed (2022)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BERT multimodal fusion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High accuracy (~90%)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Heavy, hard to explain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Kept model light &amp; interpretable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PMC Review (2023)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Survey of open challenges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Flags explainability gaps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No solution proposed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</a:rPr>
                        <a:t>Directly addresses these gaps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201400" cy="502920"/>
          </a:xfrm>
          <a:prstGeom prst="roundRect">
            <a:avLst>
              <a:gd name="adj" fmla="val 10909"/>
            </a:avLst>
          </a:prstGeom>
          <a:solidFill>
            <a:srgbClr val="FAFBFC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989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Edge: 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speech + linguistic features in one accessible, explainable web tool built for real caregivers — not just benchmark accuracy.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F1F3F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754880" cy="4754880"/>
          </a:xfrm>
          <a:prstGeom prst="ellipse">
            <a:avLst/>
          </a:prstGeom>
          <a:solidFill>
            <a:srgbClr val="EAF6F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54864" cy="502920"/>
          </a:xfrm>
          <a:prstGeom prst="rect">
            <a:avLst/>
          </a:prstGeom>
          <a:solidFill>
            <a:srgbClr val="1AA6A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tool follows a complete, explainable speech-to-screening pipeline."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(caregiver/clinician) logs into the web platform.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speech sample is recorded via a picture-description or short conversational task.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is denoised and passed through speech-to-text transcription.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features (vocabulary richness, grammar) and acoustic features (pauses, tone, speech rate) are extracted.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ML/DL classifier scores the sample for early dementia risk.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with the risk score and key indicators is generated and shown on the dashboard.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Caregivers/clinicians review results and can track scores over multiple sessions.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58191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10" name="Image 0" descr="/home/claude/dementia_ppt/icons/microphone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172821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22008" y="15636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269480" y="15636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269480" y="18928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 speech samples recorded via web/app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37960" y="2368296"/>
            <a:ext cx="4846320" cy="0"/>
          </a:xfrm>
          <a:prstGeom prst="line">
            <a:avLst/>
          </a:prstGeom>
          <a:noFill/>
          <a:ln w="9525">
            <a:solidFill>
              <a:srgbClr val="E4E8EC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6537960" y="244144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16" name="Image 1" descr="/home/claude/dementia_ppt/icons/cogs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58775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22008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26948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269480" y="27523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 + speech-to-text transcription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537960" y="3227832"/>
            <a:ext cx="4846320" cy="0"/>
          </a:xfrm>
          <a:prstGeom prst="line">
            <a:avLst/>
          </a:prstGeom>
          <a:noFill/>
          <a:ln w="9525">
            <a:solidFill>
              <a:srgbClr val="E4E8EC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6537960" y="3300984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22" name="Image 2" descr="/home/claude/dementia_ppt/icons/layers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344728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22008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269480" y="32826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726948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(NLP) + acoustic (prosody) features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537960" y="4087368"/>
            <a:ext cx="4846320" cy="0"/>
          </a:xfrm>
          <a:prstGeom prst="line">
            <a:avLst/>
          </a:prstGeom>
          <a:noFill/>
          <a:ln w="9525">
            <a:solidFill>
              <a:srgbClr val="E4E8EC"/>
            </a:solidFill>
            <a:prstDash val="dash"/>
          </a:ln>
        </p:spPr>
      </p:sp>
      <p:sp>
        <p:nvSpPr>
          <p:cNvPr id="27" name="Shape 22"/>
          <p:cNvSpPr/>
          <p:nvPr/>
        </p:nvSpPr>
        <p:spPr>
          <a:xfrm>
            <a:off x="6537960" y="41605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28" name="Image 3" descr="/home/claude/dementia_ppt/icons/flask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4306824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22008" y="4142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7269480" y="41422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269480" y="44714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 classifier trained on labeled speech data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537960" y="4946904"/>
            <a:ext cx="4846320" cy="0"/>
          </a:xfrm>
          <a:prstGeom prst="line">
            <a:avLst/>
          </a:prstGeom>
          <a:noFill/>
          <a:ln w="9525">
            <a:solidFill>
              <a:srgbClr val="E4E8EC"/>
            </a:solidFill>
            <a:prstDash val="dash"/>
          </a:ln>
        </p:spPr>
      </p:sp>
      <p:sp>
        <p:nvSpPr>
          <p:cNvPr id="33" name="Shape 27"/>
          <p:cNvSpPr/>
          <p:nvPr/>
        </p:nvSpPr>
        <p:spPr>
          <a:xfrm>
            <a:off x="6537960" y="502005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34" name="Image 4" descr="/home/claude/dementia_ppt/icons/chartline_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64" y="516636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922008" y="5001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269480" y="5001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7269480" y="53309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served via web dashboard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7498080" y="65105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F1F3F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754880" cy="4754880"/>
          </a:xfrm>
          <a:prstGeom prst="ellipse">
            <a:avLst/>
          </a:prstGeom>
          <a:solidFill>
            <a:srgbClr val="EAF6F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54864" cy="502920"/>
          </a:xfrm>
          <a:prstGeom prst="rect">
            <a:avLst/>
          </a:prstGeom>
          <a:solidFill>
            <a:srgbClr val="1AA6A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7" name="Image 0" descr="/home/claude/dementia_ppt/icons/laptop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659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2478024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" y="286207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— clean, responsive recording &amp; results UI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11" name="Image 1" descr="/home/claude/dementia_ppt/icons/server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19659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78024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0288" y="286207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 — REST APIs linking UI, model &amp; database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92440" y="169164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15" name="Image 2" descr="/home/claude/dementia_ppt/icons/database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96596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85048" y="2478024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85048" y="286207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2920" y="402336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19" name="Image 3" descr="/home/claude/dementia_ppt/icons/brain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29768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5528" y="4809744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95528" y="519379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TensorFlow, Scikit-learn — model training &amp; inference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97680" y="402336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23" name="Image 4" descr="/home/claude/dementia_ppt/icons/microphone_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8" y="429768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90288" y="4809744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Processing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4590288" y="519379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&amp; acoustic feature extraction libraries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7498080" y="65105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F1F3F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754880" cy="4754880"/>
          </a:xfrm>
          <a:prstGeom prst="ellipse">
            <a:avLst/>
          </a:prstGeom>
          <a:solidFill>
            <a:srgbClr val="EAF6F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54864" cy="502920"/>
          </a:xfrm>
          <a:prstGeom prst="rect">
            <a:avLst/>
          </a:prstGeom>
          <a:solidFill>
            <a:srgbClr val="1AA6A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Development Timeline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08760" y="3246120"/>
            <a:ext cx="9144000" cy="0"/>
          </a:xfrm>
          <a:prstGeom prst="line">
            <a:avLst/>
          </a:prstGeom>
          <a:noFill/>
          <a:ln w="25400">
            <a:solidFill>
              <a:srgbClr val="E4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7157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Research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426464" y="3163824"/>
            <a:ext cx="164592" cy="164592"/>
          </a:xfrm>
          <a:prstGeom prst="ellipse">
            <a:avLst/>
          </a:prstGeom>
          <a:solidFill>
            <a:srgbClr val="1AA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813048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submission &amp; requirement finalization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8892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88920" y="27157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712464" y="3163824"/>
            <a:ext cx="164592" cy="164592"/>
          </a:xfrm>
          <a:prstGeom prst="ellipse">
            <a:avLst/>
          </a:prstGeom>
          <a:solidFill>
            <a:srgbClr val="1AA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88920" y="3813048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data collection, cleaning, speech-to-text pipeline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492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27157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&amp; Model Work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98464" y="3163824"/>
            <a:ext cx="164592" cy="164592"/>
          </a:xfrm>
          <a:prstGeom prst="ellipse">
            <a:avLst/>
          </a:prstGeom>
          <a:solidFill>
            <a:srgbClr val="1AA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813048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+ acoustic feature extraction, baseline models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6092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6–7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60920" y="27157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Refinement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84464" y="3163824"/>
            <a:ext cx="164592" cy="164592"/>
          </a:xfrm>
          <a:prstGeom prst="ellipse">
            <a:avLst/>
          </a:prstGeom>
          <a:solidFill>
            <a:srgbClr val="1AA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60920" y="3813048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evaluation, tuning for accuracy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4692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8–9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46920" y="27157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&amp; Deployment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570464" y="3163824"/>
            <a:ext cx="164592" cy="164592"/>
          </a:xfrm>
          <a:prstGeom prst="ellipse">
            <a:avLst/>
          </a:prstGeom>
          <a:solidFill>
            <a:srgbClr val="1AA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4692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46920" y="3813048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integration, testing, report &amp; presentation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65105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F1F3F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754880" cy="4754880"/>
          </a:xfrm>
          <a:prstGeom prst="ellipse">
            <a:avLst/>
          </a:prstGeom>
          <a:solidFill>
            <a:srgbClr val="EAF6F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54864" cy="502920"/>
          </a:xfrm>
          <a:prstGeom prst="rect">
            <a:avLst/>
          </a:prstGeom>
          <a:solidFill>
            <a:srgbClr val="1AA6A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Future Scope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AFBFC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7" name="Image 0" descr="/home/claude/dementia_ppt/icons/clipboard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web application for speech-based dementia screening.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ML/NLP model exposed via a REST API.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risk reports with key linguistic &amp; acoustic indicators.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project report and full documentation.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AFBFC"/>
          </a:solidFill>
          <a:ln w="12700">
            <a:solidFill>
              <a:srgbClr val="E4E8EC"/>
            </a:solidFill>
            <a:prstDash val="solid"/>
          </a:ln>
        </p:spPr>
      </p:sp>
      <p:pic>
        <p:nvPicPr>
          <p:cNvPr id="11" name="Image 1" descr="/home/claude/dementia_ppt/icons/rocket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3317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for regional languages.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at-home longitudinal monitoring.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Cloud-scale deployment for clinics &amp; hospitals.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clinician workflow &amp; EHR systems.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Explainable-AI dashboard for transparent risk scoring.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498080" y="65105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F1F3F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754880" cy="4754880"/>
          </a:xfrm>
          <a:prstGeom prst="ellipse">
            <a:avLst/>
          </a:prstGeom>
          <a:solidFill>
            <a:srgbClr val="EAF6F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54864" cy="502920"/>
          </a:xfrm>
          <a:prstGeom prst="rect">
            <a:avLst/>
          </a:prstGeom>
          <a:solidFill>
            <a:srgbClr val="1AA6A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AFBFC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5349240" cy="7772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Digital Health, 2026  ·  Open Access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Machine Learning for Predicting</a:t>
            </a: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Dementia Status: A Leakage-Free Benchmark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Ghiasi, Falck, Liu-Ambrose, Tam — University of British Columbia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4023360"/>
            <a:ext cx="48006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6052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(summarised)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526280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freely available OASIS-2 dataset (demographic, cognitive-test, and MRI-derived scores), this 2026 study builds dementia-status classifiers with several ML models and uses explainable-AI techniques to show which features drive each prediction, while carefully avoiding data leakage that inflated results in earlier work.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56692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783080"/>
            <a:ext cx="5212080" cy="384048"/>
          </a:xfrm>
          <a:prstGeom prst="roundRect">
            <a:avLst>
              <a:gd name="adj" fmla="val 14286"/>
            </a:avLst>
          </a:prstGeom>
          <a:solidFill>
            <a:srgbClr val="FAFBFC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920240"/>
            <a:ext cx="91440" cy="91440"/>
          </a:xfrm>
          <a:prstGeom prst="ellipse">
            <a:avLst/>
          </a:prstGeom>
          <a:solidFill>
            <a:srgbClr val="E4867E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1920240"/>
            <a:ext cx="91440" cy="91440"/>
          </a:xfrm>
          <a:prstGeom prst="ellipse">
            <a:avLst/>
          </a:prstGeom>
          <a:solidFill>
            <a:srgbClr val="E8C468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1920240"/>
            <a:ext cx="91440" cy="91440"/>
          </a:xfrm>
          <a:prstGeom prst="ellipse">
            <a:avLst/>
          </a:prstGeom>
          <a:solidFill>
            <a:srgbClr val="82C99A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783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doi.org/10.1371/journal.pdig.0001409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2423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Cite This Paper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2880360"/>
            <a:ext cx="5074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OASIS-2 — a dataset we can download ourselves directly, with a free sign-up, no institutional application needed.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which features (education, MMSE, brain-volume measures) carry real predictive signal, guiding our own feature choices.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leakage-free benchmark accuracy (~70% realistic, up to ~90% ROC AUC) gives us an honest target instead of an inflated one.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explainable-AI approach (SHAP, permutation importance) matches our own goal of a transparent, trustworthy risk score.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98080" y="65105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F1F3F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754880" cy="4754880"/>
          </a:xfrm>
          <a:prstGeom prst="ellipse">
            <a:avLst/>
          </a:prstGeom>
          <a:solidFill>
            <a:srgbClr val="EAF6F5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46888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429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941832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is open for questions.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1180</Words>
  <Application>Microsoft Office PowerPoint</Application>
  <PresentationFormat>Widescreen</PresentationFormat>
  <Paragraphs>175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Nishit Singhal</cp:lastModifiedBy>
  <cp:revision>4</cp:revision>
  <dcterms:created xsi:type="dcterms:W3CDTF">2026-08-08T01:10:50Z</dcterms:created>
  <dcterms:modified xsi:type="dcterms:W3CDTF">2026-08-21T20:13:32Z</dcterms:modified>
</cp:coreProperties>
</file>